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E7A4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F4B942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· SQUAD BUILDER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FIFA World Cup 2026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Squads: Worst Value, Best Budget &amp; Dream Squad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real, verified Transfermarkt market values vs. average match rating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3246120" cy="1188720"/>
          </a:xfrm>
          <a:prstGeom prst="rect">
            <a:avLst>
              <a:gd name="adj" fmla="val 6154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459943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 the 'Worst Value' pool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4160520" y="4480560"/>
            <a:ext cx="3246120" cy="1188720"/>
          </a:xfrm>
          <a:prstGeom prst="rect">
            <a:avLst>
              <a:gd name="adj" fmla="val 6154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43400" y="459943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 the 'Best Budget' pool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7498080" y="4480560"/>
            <a:ext cx="3657600" cy="1188720"/>
          </a:xfrm>
          <a:prstGeom prst="rect">
            <a:avLst>
              <a:gd name="adj" fmla="val 6154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0" y="45994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players analyzed (≥2 matches)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player_ratings.csv · match_statistics.csv · Transfermarkt (verified)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12480" y="6263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Resul Işık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Deck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190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Snapshot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2128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cards, correlations, top players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7190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58952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&amp; Goal 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22128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more possession really mean more goals?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2735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28800" y="3310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37673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squads were built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32735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589520" y="3310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Squads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37673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Value, Best Budget &amp; Dream Squad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82803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828800" y="4864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Extremes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53218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Highest/lowest market value &amp; price/performance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482803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589520" y="4864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Takeaways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89520" y="53218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and key conclusions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 Snapshot: Goals &amp; Discipline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 goals in 100 matches (3.17/match) · 100 matches through the Quarter-final</a:t>
            </a:r>
            <a:endParaRPr lang="en-US" sz="1250" dirty="0"/>
          </a:p>
        </p:txBody>
      </p:sp>
      <p:pic>
        <p:nvPicPr>
          <p:cNvPr id="4" name="Image 0" descr="01_goals_by_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5486400" cy="5074920"/>
          </a:xfrm>
          <a:prstGeom prst="rect">
            <a:avLst/>
          </a:prstGeom>
        </p:spPr>
      </p:pic>
      <p:pic>
        <p:nvPicPr>
          <p:cNvPr id="5" name="Image 1" descr="09_cards_by_te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417320"/>
            <a:ext cx="5486400" cy="5074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stayed high through every round of the tournament.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26364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Colombia, Morocco and Tunisia top the disciplinary table.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 Snapshot: What Drives Goals &amp; Who Stood Out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of match stats · top 15 rated players (min. 3 matches)</a:t>
            </a:r>
            <a:endParaRPr lang="en-US" sz="1250" dirty="0"/>
          </a:p>
        </p:txBody>
      </p:sp>
      <p:pic>
        <p:nvPicPr>
          <p:cNvPr id="4" name="Image 0" descr="10_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5212080" cy="5074920"/>
          </a:xfrm>
          <a:prstGeom prst="rect">
            <a:avLst/>
          </a:prstGeom>
        </p:spPr>
      </p:pic>
      <p:pic>
        <p:nvPicPr>
          <p:cNvPr id="5" name="Image 1" descr="07_top_rated_play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417320"/>
            <a:ext cx="5760720" cy="5074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(r≈0.62) explains goals far better than possession (r≈0.32).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989320" y="6446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Messi, Mbappé and Haaland lead the individual ratings.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Goal-Scoring Rate by Possession Bucket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scoring change as possession crosses the 50% / 55% / 60% / 65% / 70% thresholds?</a:t>
            </a:r>
            <a:endParaRPr lang="en-US" sz="1250" dirty="0"/>
          </a:p>
        </p:txBody>
      </p:sp>
      <p:pic>
        <p:nvPicPr>
          <p:cNvPr id="4" name="Image 0" descr="16_possession_goal_r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417320"/>
            <a:ext cx="77724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281160" y="1554480"/>
            <a:ext cx="2377440" cy="4389120"/>
          </a:xfrm>
          <a:prstGeom prst="roundRect">
            <a:avLst>
              <a:gd name="adj" fmla="val 3077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46404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464040" y="2148840"/>
            <a:ext cx="2011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= average goals per match in that possession bucket.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= % of team-matches with at least 1 goal.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peak at 65-70% possession, then drop at 70%+.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rise steadily with possession up to 65-70% (2.76 goals/match), but the 70%+ bucket falls back to just 1.71 goals and a 57% scoring rate — the lowest of any bucket, suggesting a point of diminishing returns.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regression baseline used across all three squads for a fair comparison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pool: every player with ≥ 2 matches played (824 players), using real Transfermarkt market value.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7432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AvgRating ~ log10(MarketValue) is fit once on the full pool.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840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player's ValueResidual = actual rating − predicted rating for their price. Positive = outperforming price, negative = underperforming.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937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squads below simply apply different filters to this same residual before picking the best (or worst) player per position (4-3-3).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 Value Squad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Market Value ≥ €10M AND Average Rating &lt; 6.50</a:t>
            </a:r>
            <a:endParaRPr lang="en-US" sz="1250" dirty="0"/>
          </a:p>
        </p:txBody>
      </p:sp>
      <p:pic>
        <p:nvPicPr>
          <p:cNvPr id="4" name="Image 0" descr="14_worst_value_x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234440"/>
            <a:ext cx="4754880" cy="5349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3017520" cy="5120640"/>
          </a:xfrm>
          <a:prstGeom prst="roundRect">
            <a:avLst>
              <a:gd name="adj" fmla="val 2424"/>
            </a:avLst>
          </a:prstGeom>
          <a:solidFill>
            <a:srgbClr val="5C1F1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value: €365M   ·   Average rating: 6.25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2606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goalkeeper met both conditions simultaneously — the GK slot uses the worst-value keeper priced ≥€10M instead (Uğurcan Çakır, rating exactly 6.50).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95360" y="1371600"/>
            <a:ext cx="3063240" cy="5120640"/>
          </a:xfrm>
          <a:prstGeom prst="roundRect">
            <a:avLst>
              <a:gd name="adj" fmla="val 2388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per position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1965960"/>
            <a:ext cx="2743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Khusanov (D) 6.13 / 50M€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Diouf (D) 6.20 / 28M€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Kökçü (M) 6.27 / 25M€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 Larsen (F) 5.95 / 40M€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Budget Squad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Market Value ≤ €5M (any rating)</a:t>
            </a:r>
            <a:endParaRPr lang="en-US" sz="1250" dirty="0"/>
          </a:p>
        </p:txBody>
      </p:sp>
      <p:pic>
        <p:nvPicPr>
          <p:cNvPr id="4" name="Image 0" descr="15_best_budget_x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234440"/>
            <a:ext cx="4754880" cy="5349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3017520" cy="5120640"/>
          </a:xfrm>
          <a:prstGeom prst="roundRect">
            <a:avLst>
              <a:gd name="adj" fmla="val 2424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value: €18.45M   ·   Average rating: 7.46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here costs 5M€ or less, yet the average rating (7.46) beats most €100M+ real squads.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95360" y="1371600"/>
            <a:ext cx="3063240" cy="5120640"/>
          </a:xfrm>
          <a:prstGeom prst="roundRect">
            <a:avLst>
              <a:gd name="adj" fmla="val 2388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 position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1965960"/>
            <a:ext cx="2743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 Zigi (G) 8.45 / 1.5M€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Rezaeian (D) 7.57 / 0.25M€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Elijah Just (M) 7.83 / 2.5M€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Mahrez (F) 7.28 / 5M€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Dream Squad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cap — best value among players rated ≥7.0</a:t>
            </a:r>
            <a:endParaRPr lang="en-US" sz="1250" dirty="0"/>
          </a:p>
        </p:txBody>
      </p:sp>
      <p:pic>
        <p:nvPicPr>
          <p:cNvPr id="4" name="Image 0" descr="13_best_value_squ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234440"/>
            <a:ext cx="4754880" cy="5349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3017520" cy="5120640"/>
          </a:xfrm>
          <a:prstGeom prst="roundRect">
            <a:avLst>
              <a:gd name="adj" fmla="val 2424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value: €722M   ·   Average rating: 7.99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France's real €1,523M squad — the best-rated semifinalist — with a higher average individual rating.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95360" y="1371600"/>
            <a:ext cx="3063240" cy="5120640"/>
          </a:xfrm>
          <a:prstGeom prst="roundRect">
            <a:avLst>
              <a:gd name="adj" fmla="val 2388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three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1965960"/>
            <a:ext cx="2743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 9.03 / 15M€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Mbappé 8.50 / 180M€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Haaland 7.96 / 200M€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2926080"/>
        </p:xfrm>
        <a:graphic>
          <a:graphicData uri="http://schemas.openxmlformats.org/drawingml/2006/table">
            <a:tbl>
              <a:tblPr/>
              <a:tblGrid>
                <a:gridCol w="3840480"/>
                <a:gridCol w="2468880"/>
                <a:gridCol w="2286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Squad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 Value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Avg Rating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Value / €1M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Worst Value Squad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€365M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6.25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0.017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Best Budget Squad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€18.45M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7.46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0.404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Dream Squad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€722M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7.99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0.011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Real France (best-rated)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€1,523M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7.18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0.005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Budget Squad delivers 37x more "rating per €1M" than the Dream Squad, and 24x more than the Worst Value squad.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has the highest average player rating (7.18) among the 4 semifinalists (France, Argentina, Spain, England) - yet its real squad value (€1,523M) is more than double the Dream Squad's €722M, for a lower average rating.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Value &amp; Price/Performance Extremes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questions: who has the biggest budget, and who gets the most out of 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Raw Squad Market Value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€1,523M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England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3035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€1,358.2M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19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34198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€1,222.8M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Qatar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€19.9M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727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Jordan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4727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€20.3M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1114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Iraq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5111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€21.2M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Price/Performance (Value Residual)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Argentina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3836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+7.95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035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Mexico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38360" y="3035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3419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France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38360" y="34198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3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Uruguay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3836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−5.64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727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Senegal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38360" y="4727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−5.49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51114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Türkiye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38360" y="5111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−5.46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€18.45M can buy elite performance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Budget Squad averages 7.46 — higher than most €500M+ real squads.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guarantees nothing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83680" y="3108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Value Squad cost €365M and still averaged only 6.25.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4114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891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Dream Squad beats a real €1.5B squad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5669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€722M with a 7.99 average — higher rated than France's real €1,523M squad (7.18), for less than half the price.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09360" y="4114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8912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 explains performance, but loosely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583680" y="5669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best and worst squads shows scouting/fit matters as much as price.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E7A46">
              <a:alpha val="3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8229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2743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Resul Işık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32461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69768" y="3703320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0F4A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88" y="3840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38448" y="3703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github.com/resulisik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169768" y="4526280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0F4A3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088" y="46634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38448" y="4526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linkedin.com/in/resul-isik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2026 - Three Squads: Worst Value, Best Budget &amp; Dream Squad</dc:title>
  <dc:subject>PptxGenJS Presentation</dc:subject>
  <dc:creator>Resul Işık</dc:creator>
  <cp:lastModifiedBy>Resul Işık</cp:lastModifiedBy>
  <cp:revision>1</cp:revision>
  <dcterms:created xsi:type="dcterms:W3CDTF">2026-07-14T12:50:57Z</dcterms:created>
  <dcterms:modified xsi:type="dcterms:W3CDTF">2026-07-14T12:50:57Z</dcterms:modified>
</cp:coreProperties>
</file>