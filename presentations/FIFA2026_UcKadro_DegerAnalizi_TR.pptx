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E7A4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F4B942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ANALİZİ · KADRO KURMA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FIFA Dünya Kupası 2026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Kadro: En Kötü Değer, En İyi Bütçe ve Hayal Kadrosu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Gerçek, doğrulanmış Transfermarkt piyasa değeri vs. ortalama maç reytingi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480560"/>
            <a:ext cx="3246120" cy="1188720"/>
          </a:xfrm>
          <a:prstGeom prst="rect">
            <a:avLst>
              <a:gd name="adj" fmla="val 6154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5840" y="459943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'En Kötü Değer' havuzundaki oyuncu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4160520" y="4480560"/>
            <a:ext cx="3246120" cy="1188720"/>
          </a:xfrm>
          <a:prstGeom prst="rect">
            <a:avLst>
              <a:gd name="adj" fmla="val 6154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343400" y="459943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'En İyi Bütçe' havuzundaki oyuncu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7498080" y="4480560"/>
            <a:ext cx="3657600" cy="1188720"/>
          </a:xfrm>
          <a:prstGeom prst="rect">
            <a:avLst>
              <a:gd name="adj" fmla="val 6154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80960" y="45994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analiz edilen oyuncu (≥2 maç)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player_ratings.csv · match_statistics.csv · Transfermarkt (doğrulanmış)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12480" y="6263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Resul Işık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Sunumda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7190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2880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Turnuva Özeti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21284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Goller, kartlar, korelasyonlar, en iyi oyuncular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7190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58952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 Oynama &amp; Gol Oranı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0" y="221284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çok top hakimiyeti gerçekten daha çok gol demek mi?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2735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828800" y="3310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37673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kadro nasıl kuruldu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32735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589520" y="3310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Kadro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9520" y="37673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Kötü Değer, En İyi Bütçe &amp; Hayal Kadrosu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82803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828800" y="48646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Ekstremleri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53218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yüksek/düşük piyasa değeri &amp; fiyat/performans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4663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482803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589520" y="48646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 &amp; Çıkarımlar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89520" y="53218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yana kıyas ve ana sonuçlar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Turnuva Özeti: Goller ve Disiplin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maçta 317 gol (3.17/maç) · Çeyrek finale kadar 100 maç</a:t>
            </a:r>
            <a:endParaRPr lang="en-US" sz="1250" dirty="0"/>
          </a:p>
        </p:txBody>
      </p:sp>
      <p:pic>
        <p:nvPicPr>
          <p:cNvPr id="4" name="Image 0" descr="01_goals_by_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5486400" cy="5074920"/>
          </a:xfrm>
          <a:prstGeom prst="rect">
            <a:avLst/>
          </a:prstGeom>
        </p:spPr>
      </p:pic>
      <p:pic>
        <p:nvPicPr>
          <p:cNvPr id="5" name="Image 1" descr="09_cards_by_tea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417320"/>
            <a:ext cx="5486400" cy="5074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 sayısı turnuvanın her turunda yüksek kaldı.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26364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Kolombiya, Fas ve Tunus disiplin tablosunda zirvede.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Turnuva Özeti: Golü Ne Belirliyor, Kimler Öne Çıktı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Maç istatistikleri korelasyon matrisi · en iyi 15 oyuncu (min. 3 maç)</a:t>
            </a:r>
            <a:endParaRPr lang="en-US" sz="1250" dirty="0"/>
          </a:p>
        </p:txBody>
      </p:sp>
      <p:pic>
        <p:nvPicPr>
          <p:cNvPr id="4" name="Image 0" descr="10_correl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5212080" cy="5074920"/>
          </a:xfrm>
          <a:prstGeom prst="rect">
            <a:avLst/>
          </a:prstGeom>
        </p:spPr>
      </p:pic>
      <p:pic>
        <p:nvPicPr>
          <p:cNvPr id="5" name="Image 1" descr="07_top_rated_player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1417320"/>
            <a:ext cx="5760720" cy="5074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46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(r≈0.62), golü top hakimiyetinden (r≈0.32) çok daha iyi açıklıyor.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989320" y="64465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Messi, Mbappé ve Haaland bireysel reytinglerde zirvede.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Topla Oynama Oranına Göre Gol Bulma Oranı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hakimiyeti %50 / %55 / %60 / %65 / %70 eşiklerini geçtikçe gol bulma nasıl değişiyor?</a:t>
            </a:r>
            <a:endParaRPr lang="en-US" sz="1250" dirty="0"/>
          </a:p>
        </p:txBody>
      </p:sp>
      <p:pic>
        <p:nvPicPr>
          <p:cNvPr id="4" name="Image 0" descr="16_possession_goal_r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417320"/>
            <a:ext cx="77724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281160" y="1554480"/>
            <a:ext cx="2377440" cy="4389120"/>
          </a:xfrm>
          <a:prstGeom prst="roundRect">
            <a:avLst>
              <a:gd name="adj" fmla="val 3077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46404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Grafiği okumak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464040" y="2148840"/>
            <a:ext cx="2011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Çubuklar = o topla oynama aralığındaki maç başına ortalama gol.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Çizgi = en az 1 gol atılan takım-maç yüzdesi.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İkisi de %65-70 hakimiyette zirve yapıp %70+'da düşüyor.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 sayısı %65-70 hakimiyete kadar (maç başına 2.76 gol) istikrarlı şekilde artıyor, ama %70+ aralığında sadece 1.71 gole ve %57 gol bulma oranına düşüyor — tüm aralıkların en düşüğü, azalan getiri noktasına işaret ediyor.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Metodoloji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 karşılaştırma için üç kadroda da aynı regresyon temeli kullanıldı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havuz: en az 2 maç oynayan tüm oyuncular (824 kişi), gerçek Transfermarkt piyasa değeriyle.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7432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havuz üzerinde bir kez AvgRating ~ log10(PiyasaDeğeri) regresyonu kuruldu.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411480" cy="411480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8404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oyuncunun ValueResidual'ı = gerçek reyting − fiyatına göre beklenen reyting. Pozitif = fiyatının üstünde performans, negatif = altında.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937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 üç kadro, bu aynı kalıntı skoruna farklı filtreler uygulayarak her mevkide (4-3-3) en iyi/en kötüyü seçiyor.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Kötü Değer Kadrosu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Filtre: Piyasa Değeri ≥ €10M VE Ortalama Reyting &lt; 6.50</a:t>
            </a:r>
            <a:endParaRPr lang="en-US" sz="1250" dirty="0"/>
          </a:p>
        </p:txBody>
      </p:sp>
      <p:pic>
        <p:nvPicPr>
          <p:cNvPr id="4" name="Image 0" descr="14_worst_value_x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03320" y="1234440"/>
            <a:ext cx="4754880" cy="5349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3017520" cy="5120640"/>
          </a:xfrm>
          <a:prstGeom prst="roundRect">
            <a:avLst>
              <a:gd name="adj" fmla="val 2424"/>
            </a:avLst>
          </a:prstGeom>
          <a:solidFill>
            <a:srgbClr val="5C1F1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değer: 365M€   ·   Ortalama reyting: 6.25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2468880"/>
            <a:ext cx="2606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kaleci bu iki koşulu birden sağlamadı — kaleci yerine ≥€10M değerindeki en kötü değerli kaleci kullanıldı (Uğurcan Çakır, tam 6.50 reyting).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595360" y="1371600"/>
            <a:ext cx="3063240" cy="5120640"/>
          </a:xfrm>
          <a:prstGeom prst="roundRect">
            <a:avLst>
              <a:gd name="adj" fmla="val 2388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Mevkiye göre en kötü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0" y="1965960"/>
            <a:ext cx="2743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Khusanov (D) 6.13 / 50M€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Diouf (D) 6.20 / 28M€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Kökçü (M) 6.27 / 25M€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 Larsen (F) 5.95 / 40M€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İyi Bütçe Kadrosu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Filtre: Piyasa Değeri ≤ €5M (reyting fark etmez)</a:t>
            </a:r>
            <a:endParaRPr lang="en-US" sz="1250" dirty="0"/>
          </a:p>
        </p:txBody>
      </p:sp>
      <p:pic>
        <p:nvPicPr>
          <p:cNvPr id="4" name="Image 0" descr="15_best_budget_x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03320" y="1234440"/>
            <a:ext cx="4754880" cy="5349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3017520" cy="5120640"/>
          </a:xfrm>
          <a:prstGeom prst="roundRect">
            <a:avLst>
              <a:gd name="adj" fmla="val 2424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değer: 18.45M€   ·   Ortalama reyting: 7.46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246888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Buradaki her oyuncu 5M€ veya daha az, ama ortalama reyting (7.46) 100M€+'lık pek çok gerçek kadroyu geçiyor.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95360" y="1371600"/>
            <a:ext cx="3063240" cy="5120640"/>
          </a:xfrm>
          <a:prstGeom prst="roundRect">
            <a:avLst>
              <a:gd name="adj" fmla="val 2388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Mevkiye göre en iyi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0" y="1965960"/>
            <a:ext cx="2743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 Zigi (G) 8.45 / 1.5M€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Rezaeian (D) 7.57 / 0.25M€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Elijah Just (M) 7.83 / 2.5M€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Mahrez (F) 7.28 / 5M€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Hayal Kadrosu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 sınırı yok — ≥7.0 reytingli oyuncular arasında en iyi değer</a:t>
            </a:r>
            <a:endParaRPr lang="en-US" sz="1250" dirty="0"/>
          </a:p>
        </p:txBody>
      </p:sp>
      <p:pic>
        <p:nvPicPr>
          <p:cNvPr id="4" name="Image 0" descr="13_best_value_squ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03320" y="1234440"/>
            <a:ext cx="4754880" cy="5349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3017520" cy="5120640"/>
          </a:xfrm>
          <a:prstGeom prst="roundRect">
            <a:avLst>
              <a:gd name="adj" fmla="val 2424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değer: 722M€   ·   Ortalama reyting: 7.99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246888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reytingli yarı finalist olan Fransa'nın gerçek 1.523M€'lık kadrosundan ucuz, üstelik daha yüksek bireysel ortalama reytingle.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95360" y="1371600"/>
            <a:ext cx="3063240" cy="5120640"/>
          </a:xfrm>
          <a:prstGeom prst="roundRect">
            <a:avLst>
              <a:gd name="adj" fmla="val 2388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Hücum üçlüsü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0" y="1965960"/>
            <a:ext cx="2743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Messi 9.03 / 15M€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Mbappé 8.50 / 180M€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Haaland 7.96 / 200M€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 Yana Karşılaştırma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2926080"/>
        </p:xfrm>
        <a:graphic>
          <a:graphicData uri="http://schemas.openxmlformats.org/drawingml/2006/table">
            <a:tbl>
              <a:tblPr/>
              <a:tblGrid>
                <a:gridCol w="3840480"/>
                <a:gridCol w="2468880"/>
                <a:gridCol w="2286000"/>
                <a:gridCol w="22860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Kadro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Toplam Değer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Ort. Reyting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1M€ Başına Değer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En Kötü Değer Kadrosu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365M€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6.25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0.017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En İyi Bütçe Kadrosu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18.45M€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7.46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0.404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Hayal Kadrosu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722M€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7.99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</a:rPr>
                        <a:t>0.011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Gerçek Fransa (en iyi reytingli)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1.523M€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7.18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</a:rPr>
                        <a:t>0.005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 Bütçe Kadrosu, Hayal Kadrosu'ndan 37 kat, En Kötü Değer Kadrosu'ndan ise 24 kat daha fazla "1M€ başına reyting" üretiyor.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Fransa, 4 yarı finalist (Fransa, Arjantin, İspanya, İngiltere) arasında en yüksek ortalama oyuncu reytingine (7.18) sahip - ama gerçek kadro değeri (1.523M€), Hayal Kadrosu'nun 722M€'sunun iki katından fazla, üstelik daha düşük bir ortalama reytingle.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Piyasa Değeri &amp; Fiyat/Performans Ekstremleri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farklı soru: kimin bütçesi en büyük, kim bundan en çok verimi alıyor?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7F8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Ham Kadro Piyasa Değeri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3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Fransa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1.523M€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İngiltere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3035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1.358,2M€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419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İspanya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34198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1.222,8M€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Katar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19,9M€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727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Ürdün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4727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20,3M€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1114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Irak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5111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21,2M€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Fiyat/Performans (Değer Kalıntısı)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Arjantin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3836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+7,95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3035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Meksika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38360" y="3035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+6,23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3419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Fransa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38360" y="34198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3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4652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Uruguay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3836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−5,64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4727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Senegal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38360" y="4727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−5,49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46520" y="51114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Türkiye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38360" y="5111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−5,46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Öne Çıkan Çıkarımlar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18.45M€ elit performans satın alabilir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3108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 Bütçe Kadrosu ortalama 7.46 reytingle — 500M€+'lık pek çok gerçek kadrodan daha yüksek.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09360" y="15544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hiçbir şeyi garanti etmiyor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583680" y="3108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Kötü Değer Kadrosu 365M€'ya mal oldu ama yine de sadece 6.25 ortalama verdi.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4114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891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Hayal Kadrosu, 1.5 Milyar€'lık kadroyu geçiyor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4400" y="5669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722M€ ile 7.99 ortalama — Fransa'nın gerçek 1.523M€'lık kadrosundan (7.18) daha yüksek reytingli, üstelik yarı fiyatından ucuz.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309360" y="4114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0F4A3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8912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Piyasa değeri performansı açıklıyor ama gevşek biçimde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583680" y="5669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ve en kötü kadro arasındaki fark, scouting/uyumun da fiyat kadar önemli olduğunu gösteriyor.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E7A46">
              <a:alpha val="3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8229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2331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Sorularınızı bekliyorum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27432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Resul Işık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32461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 kuralım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69768" y="3703320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0F4A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88" y="38404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38448" y="37033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github.com/resulisik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169768" y="4526280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0F4A3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088" y="46634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38448" y="4526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linkedin.com/in/resul-isik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Dünya Kupası 2026 - Üç Kadro: En Kötü Değer, En İyi Bütçe ve Hayal Kadrosu</dc:title>
  <dc:subject>PptxGenJS Presentation</dc:subject>
  <dc:creator>Resul Işık</dc:creator>
  <cp:lastModifiedBy>Resul Işık</cp:lastModifiedBy>
  <cp:revision>1</cp:revision>
  <dcterms:created xsi:type="dcterms:W3CDTF">2026-07-14T12:50:58Z</dcterms:created>
  <dcterms:modified xsi:type="dcterms:W3CDTF">2026-07-14T12:50:58Z</dcterms:modified>
</cp:coreProperties>
</file>